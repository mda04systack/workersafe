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57" r:id="rId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  <p15:guide id="4" orient="horz" pos="2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CFDF5"/>
    <a:srgbClr val="2FE990"/>
    <a:srgbClr val="F36C3A"/>
    <a:srgbClr val="EFFBFF"/>
    <a:srgbClr val="B9EDFF"/>
    <a:srgbClr val="F1F7F7"/>
    <a:srgbClr val="CC9900"/>
    <a:srgbClr val="498E8D"/>
    <a:srgbClr val="A2A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36" y="402"/>
      </p:cViewPr>
      <p:guideLst>
        <p:guide orient="horz" pos="2160"/>
        <p:guide pos="3840"/>
        <p:guide orient="horz" pos="935"/>
        <p:guide orient="horz" pos="24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64988-86B8-462D-A9ED-DB57ED832388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57FED-DD87-4268-8705-561DE08F6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14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 : forme 22">
            <a:extLst>
              <a:ext uri="{FF2B5EF4-FFF2-40B4-BE49-F238E27FC236}">
                <a16:creationId xmlns:a16="http://schemas.microsoft.com/office/drawing/2014/main" id="{CA3618BE-8426-EEB2-4715-6E1D779A13A2}"/>
              </a:ext>
            </a:extLst>
          </p:cNvPr>
          <p:cNvSpPr/>
          <p:nvPr userDrawn="1"/>
        </p:nvSpPr>
        <p:spPr>
          <a:xfrm rot="18932423">
            <a:off x="-954765" y="1427043"/>
            <a:ext cx="5372804" cy="530454"/>
          </a:xfrm>
          <a:custGeom>
            <a:avLst/>
            <a:gdLst>
              <a:gd name="connsiteX0" fmla="*/ 4832249 w 5372804"/>
              <a:gd name="connsiteY0" fmla="*/ 0 h 530454"/>
              <a:gd name="connsiteX1" fmla="*/ 5372804 w 5372804"/>
              <a:gd name="connsiteY1" fmla="*/ 530454 h 530454"/>
              <a:gd name="connsiteX2" fmla="*/ 0 w 5372804"/>
              <a:gd name="connsiteY2" fmla="*/ 530454 h 530454"/>
              <a:gd name="connsiteX3" fmla="*/ 520541 w 5372804"/>
              <a:gd name="connsiteY3" fmla="*/ 0 h 530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2804" h="530454">
                <a:moveTo>
                  <a:pt x="4832249" y="0"/>
                </a:moveTo>
                <a:lnTo>
                  <a:pt x="5372804" y="530454"/>
                </a:lnTo>
                <a:lnTo>
                  <a:pt x="0" y="530454"/>
                </a:lnTo>
                <a:lnTo>
                  <a:pt x="520541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cs typeface="+mn-cs"/>
            </a:endParaRPr>
          </a:p>
        </p:txBody>
      </p:sp>
      <p:sp>
        <p:nvSpPr>
          <p:cNvPr id="11" name="Forme libre : forme 20">
            <a:extLst>
              <a:ext uri="{FF2B5EF4-FFF2-40B4-BE49-F238E27FC236}">
                <a16:creationId xmlns:a16="http://schemas.microsoft.com/office/drawing/2014/main" id="{DDBC892F-2092-A48D-7ACC-5E53E5A88FD5}"/>
              </a:ext>
            </a:extLst>
          </p:cNvPr>
          <p:cNvSpPr/>
          <p:nvPr userDrawn="1"/>
        </p:nvSpPr>
        <p:spPr>
          <a:xfrm rot="18932423">
            <a:off x="-735098" y="889565"/>
            <a:ext cx="3838044" cy="530454"/>
          </a:xfrm>
          <a:custGeom>
            <a:avLst/>
            <a:gdLst>
              <a:gd name="connsiteX0" fmla="*/ 3297489 w 3838044"/>
              <a:gd name="connsiteY0" fmla="*/ 0 h 530454"/>
              <a:gd name="connsiteX1" fmla="*/ 3838044 w 3838044"/>
              <a:gd name="connsiteY1" fmla="*/ 530454 h 530454"/>
              <a:gd name="connsiteX2" fmla="*/ 0 w 3838044"/>
              <a:gd name="connsiteY2" fmla="*/ 530454 h 530454"/>
              <a:gd name="connsiteX3" fmla="*/ 520541 w 3838044"/>
              <a:gd name="connsiteY3" fmla="*/ 0 h 530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8044" h="530454">
                <a:moveTo>
                  <a:pt x="3297489" y="0"/>
                </a:moveTo>
                <a:lnTo>
                  <a:pt x="3838044" y="530454"/>
                </a:lnTo>
                <a:lnTo>
                  <a:pt x="0" y="530454"/>
                </a:lnTo>
                <a:lnTo>
                  <a:pt x="520541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cs typeface="+mn-cs"/>
            </a:endParaRPr>
          </a:p>
        </p:txBody>
      </p:sp>
      <p:sp>
        <p:nvSpPr>
          <p:cNvPr id="18" name="Footer Placeholder 10">
            <a:extLst>
              <a:ext uri="{FF2B5EF4-FFF2-40B4-BE49-F238E27FC236}">
                <a16:creationId xmlns:a16="http://schemas.microsoft.com/office/drawing/2014/main" id="{E6435C44-7FFA-6A6E-F246-8E54010F3C1E}"/>
              </a:ext>
            </a:extLst>
          </p:cNvPr>
          <p:cNvSpPr txBox="1">
            <a:spLocks/>
          </p:cNvSpPr>
          <p:nvPr userDrawn="1"/>
        </p:nvSpPr>
        <p:spPr>
          <a:xfrm>
            <a:off x="459207" y="6265585"/>
            <a:ext cx="6399188" cy="415498"/>
          </a:xfrm>
          <a:prstGeom prst="rect">
            <a:avLst/>
          </a:prstGeom>
          <a:noFill/>
          <a:ln>
            <a:noFill/>
          </a:ln>
        </p:spPr>
        <p:txBody>
          <a:bodyPr wrap="none" lIns="0" rIns="0" anchor="t">
            <a:spAutoFit/>
          </a:bodyPr>
          <a:lstStyle>
            <a:defPPr>
              <a:defRPr lang="ko-KR"/>
            </a:defPPr>
            <a:lvl1pPr marR="0" lvl="0" indent="0" defTabSz="779114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/>
                <a:ea typeface="맑은 고딕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779114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1100" b="0" i="0" u="none" strike="noStrike" kern="1200" cap="none" spc="0" normalizeH="0" baseline="0" noProof="0">
                <a:ln>
                  <a:solidFill>
                    <a:srgbClr val="DDDDD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© 2022 Ipsos.  All rights reserved.</a:t>
            </a:r>
            <a:br>
              <a:rPr kumimoji="0" lang="en-GB" altLang="ko-KR" sz="1100" b="0" i="0" u="none" strike="noStrike" kern="1200" cap="none" spc="0" normalizeH="0" baseline="0" noProof="0">
                <a:ln>
                  <a:solidFill>
                    <a:srgbClr val="DDDDD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</a:br>
            <a:r>
              <a:rPr kumimoji="0" lang="en-GB" altLang="ko-KR" sz="1000" b="0" i="0" u="none" strike="noStrike" kern="1200" cap="none" spc="0" normalizeH="0" baseline="0" noProof="0">
                <a:ln>
                  <a:solidFill>
                    <a:srgbClr val="DDDDD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Contains Ipsos' Confidential and Proprietary information and may not be disclosed or reproduced without the prior written consent of Ipsos.</a:t>
            </a:r>
          </a:p>
        </p:txBody>
      </p:sp>
      <p:cxnSp>
        <p:nvCxnSpPr>
          <p:cNvPr id="14" name="Connecteur droit 16">
            <a:extLst>
              <a:ext uri="{FF2B5EF4-FFF2-40B4-BE49-F238E27FC236}">
                <a16:creationId xmlns:a16="http://schemas.microsoft.com/office/drawing/2014/main" id="{D8FBEFB7-CF05-47C7-BD61-8A97EC07265B}"/>
              </a:ext>
            </a:extLst>
          </p:cNvPr>
          <p:cNvCxnSpPr>
            <a:cxnSpLocks/>
          </p:cNvCxnSpPr>
          <p:nvPr userDrawn="1"/>
        </p:nvCxnSpPr>
        <p:spPr>
          <a:xfrm>
            <a:off x="571500" y="3534433"/>
            <a:ext cx="86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re 1">
            <a:extLst>
              <a:ext uri="{FF2B5EF4-FFF2-40B4-BE49-F238E27FC236}">
                <a16:creationId xmlns:a16="http://schemas.microsoft.com/office/drawing/2014/main" id="{B863573D-6FB1-4A34-BAF5-A1F2399DBF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207" y="847723"/>
            <a:ext cx="7551997" cy="2476800"/>
          </a:xfrm>
        </p:spPr>
        <p:txBody>
          <a:bodyPr lIns="72000" anchor="t">
            <a:noAutofit/>
          </a:bodyPr>
          <a:lstStyle>
            <a:lvl1pPr algn="l">
              <a:lnSpc>
                <a:spcPct val="100000"/>
              </a:lnSpc>
              <a:defRPr sz="4800" b="0" cap="all" spc="-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en-GB" altLang="ko-KR"/>
              <a:t>TITLE OF THE REPORT</a:t>
            </a:r>
            <a:endParaRPr lang="en-GB"/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564F4684-78C8-410B-B269-42FFF569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132" y="3615892"/>
            <a:ext cx="1842840" cy="307777"/>
          </a:xfrm>
          <a:prstGeom prst="rect">
            <a:avLst/>
          </a:prstGeom>
        </p:spPr>
        <p:txBody>
          <a:bodyPr wrap="none" lIns="108000" tIns="0" rIns="180000" bIns="0">
            <a:sp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882573-CF8D-477B-8EF6-9CF97BBEDB1A}" type="datetime3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February, 2026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cs typeface="+mn-cs"/>
            </a:endParaRPr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A28935BC-96FD-4772-B89B-D7415EE7FAA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9132" y="4014515"/>
            <a:ext cx="1440000" cy="1080000"/>
          </a:xfrm>
        </p:spPr>
        <p:txBody>
          <a:bodyPr vert="horz" wrap="square" lIns="108000" tIns="0" rIns="180000" bIns="0" rtlCol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20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/>
              <a:t>Client Logo</a:t>
            </a:r>
            <a:br>
              <a:rPr lang="en-US" altLang="ko-KR"/>
            </a:br>
            <a:r>
              <a:rPr lang="en-US" altLang="ko-KR"/>
              <a:t>(delete if unused)</a:t>
            </a:r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827847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 hidden="1">
            <a:extLst>
              <a:ext uri="{FF2B5EF4-FFF2-40B4-BE49-F238E27FC236}">
                <a16:creationId xmlns:a16="http://schemas.microsoft.com/office/drawing/2014/main" id="{7CED06AF-D77F-40B5-AC37-133B89CE02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"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4" name="Objet 3" hidden="1">
                        <a:extLst>
                          <a:ext uri="{FF2B5EF4-FFF2-40B4-BE49-F238E27FC236}">
                            <a16:creationId xmlns:a16="http://schemas.microsoft.com/office/drawing/2014/main" id="{7CED06AF-D77F-40B5-AC37-133B89CE0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68F1563-018F-44B3-B1BA-431C2F106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207" y="579255"/>
            <a:ext cx="7551996" cy="769441"/>
          </a:xfrm>
        </p:spPr>
        <p:txBody>
          <a:bodyPr lIns="72000" anchor="b">
            <a:spAutoFit/>
          </a:bodyPr>
          <a:lstStyle>
            <a:lvl1pPr>
              <a:defRPr sz="4400" cap="all" spc="-2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CONTENTS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137A81A-F5D3-4438-B99F-AC1EABFB66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988" y="1697613"/>
            <a:ext cx="7546216" cy="723275"/>
          </a:xfrm>
        </p:spPr>
        <p:txBody>
          <a:bodyPr wrap="square" lIns="108000" rIns="180000">
            <a:spAutoFit/>
          </a:bodyPr>
          <a:lstStyle>
            <a:lvl1pPr marL="450850" indent="-450850">
              <a:lnSpc>
                <a:spcPct val="100000"/>
              </a:lnSpc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447675" indent="-314325">
              <a:lnSpc>
                <a:spcPct val="100000"/>
              </a:lnSpc>
              <a:buFont typeface="Arial" panose="020B0604020202020204" pitchFamily="34" charset="0"/>
              <a:buChar char=" "/>
              <a:defRPr sz="1600">
                <a:solidFill>
                  <a:schemeClr val="bg1"/>
                </a:solidFill>
              </a:defRPr>
            </a:lvl2pPr>
            <a:lvl3pPr marL="542925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  <a:p>
            <a:pPr lvl="1"/>
            <a:r>
              <a:rPr lang="en-GB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19643200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0A9B055-F18F-F584-6908-B692DB060ED8}"/>
              </a:ext>
            </a:extLst>
          </p:cNvPr>
          <p:cNvSpPr/>
          <p:nvPr userDrawn="1"/>
        </p:nvSpPr>
        <p:spPr>
          <a:xfrm>
            <a:off x="0" y="0"/>
            <a:ext cx="12187989" cy="6861319"/>
          </a:xfrm>
          <a:prstGeom prst="rect">
            <a:avLst/>
          </a:prstGeom>
          <a:solidFill>
            <a:srgbClr val="293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cs typeface="+mn-cs"/>
            </a:endParaRPr>
          </a:p>
        </p:txBody>
      </p:sp>
      <p:graphicFrame>
        <p:nvGraphicFramePr>
          <p:cNvPr id="4" name="Objet 3" hidden="1">
            <a:extLst>
              <a:ext uri="{FF2B5EF4-FFF2-40B4-BE49-F238E27FC236}">
                <a16:creationId xmlns:a16="http://schemas.microsoft.com/office/drawing/2014/main" id="{7CED06AF-D77F-40B5-AC37-133B89CE02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4" name="Objet 3" hidden="1">
                        <a:extLst>
                          <a:ext uri="{FF2B5EF4-FFF2-40B4-BE49-F238E27FC236}">
                            <a16:creationId xmlns:a16="http://schemas.microsoft.com/office/drawing/2014/main" id="{7CED06AF-D77F-40B5-AC37-133B89CE0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3FB41568-B5D6-4B2B-83A9-1733583C51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650" y="463036"/>
            <a:ext cx="1028487" cy="1323439"/>
          </a:xfrm>
        </p:spPr>
        <p:txBody>
          <a:bodyPr wrap="none" lIns="0">
            <a:spAutoFit/>
          </a:bodyPr>
          <a:lstStyle>
            <a:lvl1pPr marL="0" indent="0">
              <a:buNone/>
              <a:defRPr sz="8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CAAADD-DBF5-4187-8C5F-795EF3741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650" y="1782331"/>
            <a:ext cx="5487647" cy="667875"/>
          </a:xfrm>
        </p:spPr>
        <p:txBody>
          <a:bodyPr vert="horz" wrap="none" lIns="0" tIns="45720" rIns="72000" bIns="45720" rtlCol="0" anchor="t">
            <a:spAutoFit/>
          </a:bodyPr>
          <a:lstStyle>
            <a:lvl1pPr>
              <a:defRPr lang="en-GB" sz="4400" cap="all" spc="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GB"/>
              <a:t>TITLE OF THE CHAPTER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C72475D8-FF80-44CD-B5C5-96FD632B9F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650" y="3438331"/>
            <a:ext cx="5399152" cy="723275"/>
          </a:xfrm>
        </p:spPr>
        <p:txBody>
          <a:bodyPr vert="horz" wrap="square" lIns="0" tIns="45720" rIns="180000" bIns="45720" rtlCol="0" anchor="t">
            <a:spAutoFit/>
          </a:bodyPr>
          <a:lstStyle>
            <a:lvl1pPr marL="0" indent="0">
              <a:buNone/>
              <a:defRPr lang="en-GB" sz="1800" cap="none" baseline="0" dirty="0">
                <a:solidFill>
                  <a:schemeClr val="bg1"/>
                </a:solidFill>
              </a:defRPr>
            </a:lvl1pPr>
            <a:lvl2pPr>
              <a:defRPr lang="en-GB" sz="2000" dirty="0">
                <a:solidFill>
                  <a:schemeClr val="tx1">
                    <a:tint val="75000"/>
                  </a:schemeClr>
                </a:solidFill>
              </a:defRPr>
            </a:lvl2pPr>
          </a:lstStyle>
          <a:p>
            <a:pPr marL="228600" lvl="0" indent="-228600" latinLnBrk="1"/>
            <a:r>
              <a:rPr lang="en-GB"/>
              <a:t>Your text here</a:t>
            </a:r>
          </a:p>
          <a:p>
            <a:pPr marL="228600" lvl="0" indent="-228600" latinLnBrk="1"/>
            <a:endParaRPr lang="en-GB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2945" y="66675"/>
            <a:ext cx="1403412" cy="188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245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Chapter Title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7C160-80C8-488C-B721-AF3732F21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181" y="447984"/>
            <a:ext cx="11520000" cy="400110"/>
          </a:xfrm>
        </p:spPr>
        <p:txBody>
          <a:bodyPr lIns="0"/>
          <a:lstStyle>
            <a:lvl1pPr>
              <a:defRPr sz="2000" cap="all" baseline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</a:defRPr>
            </a:lvl1pPr>
          </a:lstStyle>
          <a:p>
            <a:r>
              <a:rPr lang="fr-FR" altLang="ko-KR"/>
              <a:t>TITLE OF THE SLIDE</a:t>
            </a:r>
            <a:endParaRPr lang="ko-KR" alt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B55AB52-5C67-45FB-A0A6-CB9E94F49C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3930" y="248918"/>
            <a:ext cx="11520000" cy="258532"/>
          </a:xfrm>
          <a:prstGeom prst="rect">
            <a:avLst/>
          </a:prstGeom>
        </p:spPr>
        <p:txBody>
          <a:bodyPr vert="horz" wrap="square" lIns="0" tIns="45720" rIns="72000" bIns="45720" rtlCol="0" anchor="ctr">
            <a:spAutoFit/>
          </a:bodyPr>
          <a:lstStyle>
            <a:lvl1pPr marL="0" indent="0">
              <a:buNone/>
              <a:defRPr lang="en-GB" sz="1200" cap="all" spc="0" baseline="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B3B3B3"/>
                </a:solidFill>
                <a:ea typeface="+mj-ea"/>
                <a:cs typeface="+mj-cs"/>
              </a:defRPr>
            </a:lvl1pPr>
          </a:lstStyle>
          <a:p>
            <a:pPr marL="85725" lvl="0" indent="-85725">
              <a:lnSpc>
                <a:spcPct val="90000"/>
              </a:lnSpc>
              <a:spcBef>
                <a:spcPct val="0"/>
              </a:spcBef>
            </a:pPr>
            <a:r>
              <a:rPr lang="en-GB" altLang="ko-KR"/>
              <a:t>TITLE OF THE CHAPTER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948F285-01B6-4109-A566-BE88A1F9B9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5860" y="6480462"/>
            <a:ext cx="10584000" cy="124650"/>
          </a:xfrm>
        </p:spPr>
        <p:txBody>
          <a:bodyPr wrap="square" lIns="0" tIns="0" bIns="0" anchor="b">
            <a:spAutoFit/>
          </a:bodyPr>
          <a:lstStyle>
            <a:lvl1pPr marL="0" indent="0" fontAlgn="base">
              <a:lnSpc>
                <a:spcPct val="90000"/>
              </a:lnSpc>
              <a:spcBef>
                <a:spcPts val="0"/>
              </a:spcBef>
              <a:buNone/>
              <a:defRPr sz="900" b="0" i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307343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Chapter Title+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7C160-80C8-488C-B721-AF3732F21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181" y="447984"/>
            <a:ext cx="11520000" cy="400110"/>
          </a:xfrm>
        </p:spPr>
        <p:txBody>
          <a:bodyPr lIns="0"/>
          <a:lstStyle>
            <a:lvl1pPr>
              <a:defRPr sz="2000" cap="all" baseline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</a:defRPr>
            </a:lvl1pPr>
          </a:lstStyle>
          <a:p>
            <a:r>
              <a:rPr lang="fr-FR" altLang="ko-KR"/>
              <a:t>TITLE OF THE SLIDE</a:t>
            </a:r>
            <a:endParaRPr lang="ko-KR" alt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B55AB52-5C67-45FB-A0A6-CB9E94F49C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3930" y="248918"/>
            <a:ext cx="11520000" cy="258532"/>
          </a:xfrm>
          <a:prstGeom prst="rect">
            <a:avLst/>
          </a:prstGeom>
        </p:spPr>
        <p:txBody>
          <a:bodyPr vert="horz" wrap="square" lIns="0" tIns="45720" rIns="72000" bIns="45720" rtlCol="0" anchor="ctr">
            <a:spAutoFit/>
          </a:bodyPr>
          <a:lstStyle>
            <a:lvl1pPr marL="0" indent="0">
              <a:buNone/>
              <a:defRPr lang="en-GB" sz="1200" cap="all" spc="0" baseline="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B3B3B3"/>
                </a:solidFill>
                <a:ea typeface="+mj-ea"/>
                <a:cs typeface="+mj-cs"/>
              </a:defRPr>
            </a:lvl1pPr>
          </a:lstStyle>
          <a:p>
            <a:pPr marL="228600" lvl="0" indent="-228600">
              <a:lnSpc>
                <a:spcPct val="90000"/>
              </a:lnSpc>
              <a:spcBef>
                <a:spcPct val="0"/>
              </a:spcBef>
            </a:pPr>
            <a:r>
              <a:rPr lang="en-GB" altLang="ko-KR"/>
              <a:t>TITLE OF THE CHAPTER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948F285-01B6-4109-A566-BE88A1F9B9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5861" y="6481580"/>
            <a:ext cx="10584000" cy="124650"/>
          </a:xfrm>
        </p:spPr>
        <p:txBody>
          <a:bodyPr wrap="square" lIns="0" tIns="0" bIns="0" anchor="b">
            <a:spAutoFit/>
          </a:bodyPr>
          <a:lstStyle>
            <a:lvl1pPr marL="0" indent="0" fontAlgn="base">
              <a:lnSpc>
                <a:spcPct val="90000"/>
              </a:lnSpc>
              <a:spcBef>
                <a:spcPts val="0"/>
              </a:spcBef>
              <a:buNone/>
              <a:defRPr sz="900" b="0" i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/>
              <a:t>Sources: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CB60960-0C04-41FB-9399-1DE160C9F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5181" y="888358"/>
            <a:ext cx="11520000" cy="628505"/>
          </a:xfrm>
        </p:spPr>
        <p:txBody>
          <a:bodyPr lIns="0" rIns="0">
            <a:spAutoFit/>
          </a:bodyPr>
          <a:lstStyle>
            <a:lvl1pPr marL="228600" indent="-228600" fontAlgn="base" latinLnBrk="0">
              <a:lnSpc>
                <a:spcPct val="110000"/>
              </a:lnSpc>
              <a:spcBef>
                <a:spcPts val="600"/>
              </a:spcBef>
              <a:buSzPct val="90000"/>
              <a:buFont typeface="맑은 고딕" panose="020B0503020000020004" pitchFamily="50" charset="-127"/>
              <a:buChar char="■"/>
              <a:defRPr sz="14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</a:defRPr>
            </a:lvl1pPr>
            <a:lvl2pPr marL="452438" indent="-187325" fontAlgn="base" latinLnBrk="0">
              <a:lnSpc>
                <a:spcPct val="110000"/>
              </a:lnSpc>
              <a:spcBef>
                <a:spcPts val="600"/>
              </a:spcBef>
              <a:buSzPct val="90000"/>
              <a:buFont typeface="맑은 고딕" panose="020B0503020000020004" pitchFamily="50" charset="-127"/>
              <a:buChar char="-"/>
              <a:defRPr sz="14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</a:defRPr>
            </a:lvl2pPr>
            <a:lvl3pPr marL="1143000" indent="-228600">
              <a:buSzPct val="90000"/>
              <a:buFont typeface="맑은 고딕" panose="020B0503020000020004" pitchFamily="50" charset="-127"/>
              <a:buChar char="■"/>
              <a:defRPr sz="1300"/>
            </a:lvl3pPr>
            <a:lvl4pPr marL="1600200" indent="-228600">
              <a:buSzPct val="90000"/>
              <a:buFont typeface="맑은 고딕" panose="020B0503020000020004" pitchFamily="50" charset="-127"/>
              <a:buChar char="■"/>
              <a:defRPr sz="1300"/>
            </a:lvl4pPr>
            <a:lvl5pPr marL="2057400" indent="-228600">
              <a:buSzPct val="90000"/>
              <a:buFont typeface="맑은 고딕" panose="020B0503020000020004" pitchFamily="50" charset="-127"/>
              <a:buChar char="■"/>
              <a:defRPr sz="13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38979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61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">
    <p:bg>
      <p:bgPr>
        <a:solidFill>
          <a:srgbClr val="29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9">
            <a:extLst>
              <a:ext uri="{FF2B5EF4-FFF2-40B4-BE49-F238E27FC236}">
                <a16:creationId xmlns:a16="http://schemas.microsoft.com/office/drawing/2014/main" id="{C1816C1F-CB8D-47ED-A2B1-E920934A46E5}"/>
              </a:ext>
            </a:extLst>
          </p:cNvPr>
          <p:cNvSpPr txBox="1"/>
          <p:nvPr userDrawn="1"/>
        </p:nvSpPr>
        <p:spPr>
          <a:xfrm>
            <a:off x="4269506" y="4499434"/>
            <a:ext cx="3736920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solidFill>
                    <a:srgbClr val="DDDDD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cs typeface="+mn-cs"/>
              </a:rPr>
              <a:t>THANK YOU</a:t>
            </a: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37779" y="1195794"/>
            <a:ext cx="2200374" cy="2958611"/>
          </a:xfrm>
          <a:prstGeom prst="rect">
            <a:avLst/>
          </a:prstGeom>
          <a:solidFill>
            <a:srgbClr val="293744"/>
          </a:solidFill>
        </p:spPr>
      </p:pic>
    </p:spTree>
    <p:extLst>
      <p:ext uri="{BB962C8B-B14F-4D97-AF65-F5344CB8AC3E}">
        <p14:creationId xmlns:p14="http://schemas.microsoft.com/office/powerpoint/2010/main" val="47657222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9359CE-74FB-417C-821A-C7AF686E3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181" y="1825625"/>
            <a:ext cx="1152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18CB57B6-9616-4435-AEF9-1631A439A39A}"/>
              </a:ext>
            </a:extLst>
          </p:cNvPr>
          <p:cNvSpPr txBox="1">
            <a:spLocks/>
          </p:cNvSpPr>
          <p:nvPr userDrawn="1"/>
        </p:nvSpPr>
        <p:spPr>
          <a:xfrm>
            <a:off x="335363" y="6420920"/>
            <a:ext cx="36003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b="1" kern="1200">
                <a:solidFill>
                  <a:schemeClr val="bg2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AABEC-672F-4B68-B914-690DA978312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cs typeface="+mn-cs"/>
              </a:rPr>
              <a:t>  </a:t>
            </a:r>
          </a:p>
        </p:txBody>
      </p:sp>
      <p:sp>
        <p:nvSpPr>
          <p:cNvPr id="19" name="Espace réservé du titre 1">
            <a:extLst>
              <a:ext uri="{FF2B5EF4-FFF2-40B4-BE49-F238E27FC236}">
                <a16:creationId xmlns:a16="http://schemas.microsoft.com/office/drawing/2014/main" id="{F48FE835-DD41-491F-ADBF-703AFAB72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81" y="382816"/>
            <a:ext cx="11520000" cy="523220"/>
          </a:xfrm>
          <a:prstGeom prst="rect">
            <a:avLst/>
          </a:prstGeom>
        </p:spPr>
        <p:txBody>
          <a:bodyPr vert="horz" wrap="square" lIns="72000" tIns="45720" rIns="72000" bIns="45720" rtlCol="0" anchor="t">
            <a:spAutoFit/>
          </a:bodyPr>
          <a:lstStyle/>
          <a:p>
            <a:r>
              <a:rPr lang="en-GB"/>
              <a:t>TITLE OF THE SLIDE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304605" y="216523"/>
            <a:ext cx="1550576" cy="594388"/>
          </a:xfrm>
          <a:prstGeom prst="rect">
            <a:avLst/>
          </a:prstGeom>
          <a:solidFill>
            <a:srgbClr val="FBFBFB"/>
          </a:solidFill>
        </p:spPr>
      </p:pic>
    </p:spTree>
    <p:extLst>
      <p:ext uri="{BB962C8B-B14F-4D97-AF65-F5344CB8AC3E}">
        <p14:creationId xmlns:p14="http://schemas.microsoft.com/office/powerpoint/2010/main" val="23783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fontAlgn="base" latinLnBrk="0" hangingPunct="1">
        <a:lnSpc>
          <a:spcPct val="100000"/>
        </a:lnSpc>
        <a:spcBef>
          <a:spcPts val="0"/>
        </a:spcBef>
        <a:buNone/>
        <a:defRPr sz="2800" kern="1200">
          <a:ln>
            <a:solidFill>
              <a:schemeClr val="bg1">
                <a:lumMod val="95000"/>
                <a:alpha val="0"/>
              </a:schemeClr>
            </a:solidFill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base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ln>
            <a:solidFill>
              <a:schemeClr val="bg1">
                <a:lumMod val="95000"/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fontAlgn="base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ln>
            <a:solidFill>
              <a:schemeClr val="bg1">
                <a:lumMod val="95000"/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fontAlgn="base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ln>
            <a:solidFill>
              <a:schemeClr val="bg1">
                <a:lumMod val="95000"/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fontAlgn="base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ln>
            <a:solidFill>
              <a:schemeClr val="bg1">
                <a:lumMod val="95000"/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fontAlgn="base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ln>
            <a:solidFill>
              <a:schemeClr val="bg1">
                <a:lumMod val="95000"/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orient="horz" pos="1139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33930" y="231500"/>
            <a:ext cx="11520000" cy="25853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74197"/>
              </p:ext>
            </p:extLst>
          </p:nvPr>
        </p:nvGraphicFramePr>
        <p:xfrm>
          <a:off x="333930" y="898194"/>
          <a:ext cx="11520000" cy="5424943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580470">
                  <a:extLst>
                    <a:ext uri="{9D8B030D-6E8A-4147-A177-3AD203B41FA5}">
                      <a16:colId xmlns:a16="http://schemas.microsoft.com/office/drawing/2014/main" val="4069525954"/>
                    </a:ext>
                  </a:extLst>
                </a:gridCol>
                <a:gridCol w="1562986">
                  <a:extLst>
                    <a:ext uri="{9D8B030D-6E8A-4147-A177-3AD203B41FA5}">
                      <a16:colId xmlns:a16="http://schemas.microsoft.com/office/drawing/2014/main" val="429604446"/>
                    </a:ext>
                  </a:extLst>
                </a:gridCol>
                <a:gridCol w="1675894">
                  <a:extLst>
                    <a:ext uri="{9D8B030D-6E8A-4147-A177-3AD203B41FA5}">
                      <a16:colId xmlns:a16="http://schemas.microsoft.com/office/drawing/2014/main" val="1995627186"/>
                    </a:ext>
                  </a:extLst>
                </a:gridCol>
                <a:gridCol w="1540130">
                  <a:extLst>
                    <a:ext uri="{9D8B030D-6E8A-4147-A177-3AD203B41FA5}">
                      <a16:colId xmlns:a16="http://schemas.microsoft.com/office/drawing/2014/main" val="3044947471"/>
                    </a:ext>
                  </a:extLst>
                </a:gridCol>
                <a:gridCol w="1540130">
                  <a:extLst>
                    <a:ext uri="{9D8B030D-6E8A-4147-A177-3AD203B41FA5}">
                      <a16:colId xmlns:a16="http://schemas.microsoft.com/office/drawing/2014/main" val="3795107649"/>
                    </a:ext>
                  </a:extLst>
                </a:gridCol>
                <a:gridCol w="1540130">
                  <a:extLst>
                    <a:ext uri="{9D8B030D-6E8A-4147-A177-3AD203B41FA5}">
                      <a16:colId xmlns:a16="http://schemas.microsoft.com/office/drawing/2014/main" val="3746112814"/>
                    </a:ext>
                  </a:extLst>
                </a:gridCol>
                <a:gridCol w="1540130">
                  <a:extLst>
                    <a:ext uri="{9D8B030D-6E8A-4147-A177-3AD203B41FA5}">
                      <a16:colId xmlns:a16="http://schemas.microsoft.com/office/drawing/2014/main" val="1265377731"/>
                    </a:ext>
                  </a:extLst>
                </a:gridCol>
                <a:gridCol w="1540130">
                  <a:extLst>
                    <a:ext uri="{9D8B030D-6E8A-4147-A177-3AD203B41FA5}">
                      <a16:colId xmlns:a16="http://schemas.microsoft.com/office/drawing/2014/main" val="1306749710"/>
                    </a:ext>
                  </a:extLst>
                </a:gridCol>
              </a:tblGrid>
              <a:tr h="2230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수집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데이터 전처리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smtClean="0">
                          <a:latin typeface="+mn-ea"/>
                          <a:ea typeface="+mn-ea"/>
                        </a:rPr>
                        <a:t>특성 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모델 설계 및 개발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평가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검증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성능 개선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서비스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392750"/>
                  </a:ext>
                </a:extLst>
              </a:tr>
              <a:tr h="84525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심전도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(ECG)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데이터 확보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신호 규격 통일 및 정제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/>
                        <a:t>모델 입력을 위한 특징 정의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00" dirty="0" err="1" smtClean="0"/>
                        <a:t>딥러닝</a:t>
                      </a:r>
                      <a:r>
                        <a:rPr lang="ko-KR" altLang="en-US" sz="1000" dirty="0" smtClean="0"/>
                        <a:t> 알고리즘 구축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00" dirty="0" smtClean="0"/>
                        <a:t>성능 측정 및 신뢰성 확보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 CNN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성능 개선 및 하이퍼파라미터 최적화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단계별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알람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전략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오경보로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인한 응급 시스템 부담을 최소화하기 위해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단계 구조의 알림 파이프라인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432142018"/>
                  </a:ext>
                </a:extLst>
              </a:tr>
              <a:tr h="182673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기술</a:t>
                      </a: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baseline="0" dirty="0" err="1" smtClean="0">
                          <a:latin typeface="+mn-ea"/>
                          <a:ea typeface="+mn-ea"/>
                        </a:rPr>
                        <a:t>데이터셋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MIT-BIH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정상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및 급성 심장사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데이터베이스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b="1" dirty="0" smtClean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심정지 환자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b="1" dirty="0" smtClean="0">
                          <a:latin typeface="+mn-ea"/>
                          <a:ea typeface="+mn-ea"/>
                        </a:rPr>
                        <a:t>형식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장시간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ECG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데이터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dirty="0" smtClean="0"/>
                        <a:t>샘플링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250Hz </a:t>
                      </a:r>
                      <a:r>
                        <a:rPr lang="ko-KR" altLang="en-US" sz="1000" dirty="0" smtClean="0"/>
                        <a:t>급성 심정지 데이터를 정상과 같이 </a:t>
                      </a:r>
                      <a:r>
                        <a:rPr lang="en-US" altLang="ko-KR" sz="1000" b="1" dirty="0" smtClean="0"/>
                        <a:t>128Hz</a:t>
                      </a:r>
                      <a:r>
                        <a:rPr lang="ko-KR" altLang="en-US" sz="1000" dirty="0" smtClean="0"/>
                        <a:t>로 </a:t>
                      </a:r>
                      <a:r>
                        <a:rPr lang="ko-KR" altLang="en-US" sz="1000" dirty="0" err="1" smtClean="0"/>
                        <a:t>다운샘플링</a:t>
                      </a:r>
                      <a:endParaRPr lang="en-US" altLang="ko-KR" sz="1000" dirty="0" smtClean="0"/>
                    </a:p>
                    <a:p>
                      <a:pPr algn="l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b="1" dirty="0" smtClean="0"/>
                        <a:t>분할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신호를 </a:t>
                      </a:r>
                      <a:r>
                        <a:rPr lang="en-US" altLang="ko-KR" sz="1000" b="1" dirty="0" smtClean="0"/>
                        <a:t>1</a:t>
                      </a:r>
                      <a:r>
                        <a:rPr lang="ko-KR" altLang="en-US" sz="1000" b="1" dirty="0" smtClean="0"/>
                        <a:t>분 단위</a:t>
                      </a:r>
                      <a:r>
                        <a:rPr lang="ko-KR" altLang="en-US" sz="1000" dirty="0" smtClean="0"/>
                        <a:t>로 분할</a:t>
                      </a:r>
                      <a:r>
                        <a:rPr lang="en-US" altLang="ko-KR" sz="1000" baseline="0" dirty="0" smtClean="0"/>
                        <a:t> (</a:t>
                      </a:r>
                      <a:r>
                        <a:rPr lang="en-US" altLang="ko-KR" sz="1000" dirty="0" smtClean="0"/>
                        <a:t>Segmentation)</a:t>
                      </a:r>
                    </a:p>
                    <a:p>
                      <a:pPr algn="l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구간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급성 </a:t>
                      </a:r>
                      <a:r>
                        <a:rPr lang="ko-KR" altLang="en-US" sz="1000" dirty="0" err="1" smtClean="0"/>
                        <a:t>심정지는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심실세동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발생 전 </a:t>
                      </a:r>
                      <a:r>
                        <a:rPr lang="en-US" altLang="ko-KR" sz="1000" dirty="0" smtClean="0"/>
                        <a:t>1</a:t>
                      </a:r>
                      <a:r>
                        <a:rPr lang="ko-KR" altLang="en-US" sz="1000" dirty="0" smtClean="0"/>
                        <a:t>시간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정상은 측정 시작 </a:t>
                      </a:r>
                      <a:r>
                        <a:rPr lang="en-US" altLang="ko-KR" sz="1000" dirty="0" smtClean="0"/>
                        <a:t>1</a:t>
                      </a:r>
                      <a:r>
                        <a:rPr lang="ko-KR" altLang="en-US" sz="1000" dirty="0" smtClean="0"/>
                        <a:t>시간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경후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1</a:t>
                      </a:r>
                      <a:r>
                        <a:rPr lang="ko-KR" altLang="en-US" sz="1000" baseline="0" dirty="0" smtClean="0"/>
                        <a:t>시간 </a:t>
                      </a:r>
                      <a:r>
                        <a:rPr lang="en-US" altLang="ko-KR" sz="1000" baseline="0" dirty="0" smtClean="0"/>
                        <a:t>ECG </a:t>
                      </a:r>
                      <a:r>
                        <a:rPr lang="ko-KR" altLang="en-US" sz="1000" baseline="0" dirty="0" smtClean="0"/>
                        <a:t>신호 추출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이산 푸리에 변환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(DFT)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를 통해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ECG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신호를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시계열에서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주파수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데이터로 변환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endParaRPr lang="en-US" sz="1000" baseline="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b="1" dirty="0" smtClean="0"/>
                        <a:t>전략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딥러닝이</a:t>
                      </a:r>
                      <a:r>
                        <a:rPr lang="ko-KR" altLang="en-US" sz="1000" dirty="0" smtClean="0"/>
                        <a:t> 주파수 신호를 분석하고 자동 특징 추출</a:t>
                      </a:r>
                      <a:endParaRPr lang="en-US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n-ea"/>
                          <a:ea typeface="+mn-ea"/>
                        </a:rPr>
                        <a:t>•</a:t>
                      </a:r>
                      <a:r>
                        <a:rPr lang="en-US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b="1" dirty="0" smtClean="0"/>
                        <a:t>알고리즘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1D-CNN (1</a:t>
                      </a:r>
                      <a:r>
                        <a:rPr lang="ko-KR" altLang="en-US" sz="1000" dirty="0" smtClean="0"/>
                        <a:t>차원 합성곱 신경망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l"/>
                      <a:endParaRPr lang="en-US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구조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1D-Conv – Max-Pooling – </a:t>
                      </a:r>
                      <a:r>
                        <a:rPr lang="ko-KR" altLang="en-US" sz="1000" dirty="0" smtClean="0"/>
                        <a:t>완전 </a:t>
                      </a:r>
                      <a:r>
                        <a:rPr lang="ko-KR" altLang="en-US" sz="1000" dirty="0" err="1" smtClean="0"/>
                        <a:t>연결층</a:t>
                      </a:r>
                      <a:r>
                        <a:rPr lang="en-US" altLang="ko-KR" sz="1000" dirty="0" smtClean="0"/>
                        <a:t>(FC)</a:t>
                      </a:r>
                    </a:p>
                    <a:p>
                      <a:pPr algn="l"/>
                      <a:endParaRPr lang="en-US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err="1" smtClean="0"/>
                        <a:t>과적합</a:t>
                      </a:r>
                      <a:r>
                        <a:rPr lang="ko-KR" altLang="en-US" sz="1000" b="1" dirty="0" smtClean="0"/>
                        <a:t> 방지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Dropout</a:t>
                      </a:r>
                      <a:endParaRPr lang="en-US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n-ea"/>
                          <a:ea typeface="+mn-ea"/>
                        </a:rPr>
                        <a:t>•</a:t>
                      </a:r>
                      <a:r>
                        <a:rPr lang="en-US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학습 곡선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손실 곡선 및 학습 곡선</a:t>
                      </a:r>
                      <a:endParaRPr lang="en-US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혼동 행렬</a:t>
                      </a:r>
                      <a:r>
                        <a:rPr lang="en-US" sz="10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000" dirty="0" smtClean="0">
                          <a:latin typeface="+mn-ea"/>
                          <a:ea typeface="+mn-ea"/>
                        </a:rPr>
                      </a:br>
                      <a:r>
                        <a:rPr lang="en-US" sz="1000" dirty="0" smtClean="0">
                          <a:latin typeface="+mn-ea"/>
                          <a:ea typeface="+mn-ea"/>
                        </a:rPr>
                        <a:t>• ROC</a:t>
                      </a:r>
                      <a:r>
                        <a:rPr lang="en-US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커브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시간대별 위험도 분석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평가 지표</a:t>
                      </a:r>
                      <a:endParaRPr lang="en-US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베이지안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최적화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(Bayesian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Optimization)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Conv1D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레이어의 필터 수와 커널 크기 탐색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층을 하나 더 쌓을지 말지 결정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구조 탐색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완전 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연결층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노드 수 탐색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Dropout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비율 탐색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학습률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(Learning Rate)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탐색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1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사용자 확인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):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심정지 의심 시 스마트폰으로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30~60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초간 가청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알람을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발생시켜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사용자가 의식이 있다면 직접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알람을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해제</a:t>
                      </a:r>
                    </a:p>
                    <a:p>
                      <a:pPr algn="l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자동 구조 요청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):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사용자 응답이 없을 경우 의식 상실로 간주하고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위치 정보와 함께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EMS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 자동으로 구조 요청을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54557"/>
                  </a:ext>
                </a:extLst>
              </a:tr>
              <a:tr h="2468191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라이브러리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err="1" smtClean="0"/>
                        <a:t>wfdb</a:t>
                      </a:r>
                      <a:r>
                        <a:rPr lang="ko-KR" altLang="en-US" sz="1000" dirty="0" smtClean="0"/>
                        <a:t>를 활용하여 </a:t>
                      </a:r>
                      <a:r>
                        <a:rPr lang="en-US" altLang="ko-KR" sz="1000" dirty="0" err="1" smtClean="0"/>
                        <a:t>PhysioNet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데이터 로드</a:t>
                      </a:r>
                      <a:endParaRPr lang="en-US" altLang="ko-KR" sz="1000" dirty="0" smtClean="0"/>
                    </a:p>
                    <a:p>
                      <a:pPr algn="l" latinLnBrk="0"/>
                      <a:endParaRPr lang="en-US" altLang="ko-KR" sz="1000" dirty="0" smtClean="0"/>
                    </a:p>
                    <a:p>
                      <a:pPr algn="l" latinLnBrk="0"/>
                      <a:r>
                        <a:rPr lang="en-US" altLang="ko-KR" sz="1000" dirty="0" smtClean="0"/>
                        <a:t>• </a:t>
                      </a:r>
                      <a:r>
                        <a:rPr lang="en-US" altLang="ko-KR" sz="1000" b="1" dirty="0" smtClean="0"/>
                        <a:t>ID </a:t>
                      </a:r>
                      <a:r>
                        <a:rPr lang="ko-KR" altLang="en-US" sz="1000" b="1" dirty="0" smtClean="0"/>
                        <a:t>매핑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코드 내 </a:t>
                      </a:r>
                      <a:r>
                        <a:rPr lang="en-US" altLang="ko-KR" sz="1000" dirty="0" err="1" smtClean="0"/>
                        <a:t>uuid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리스트로 대상자 특정</a:t>
                      </a:r>
                      <a:endParaRPr lang="en-US" altLang="ko-KR" sz="1000" dirty="0" smtClean="0"/>
                    </a:p>
                    <a:p>
                      <a:pPr algn="l" latinLnBrk="0"/>
                      <a:r>
                        <a:rPr lang="en-US" altLang="ko-KR" sz="1000" dirty="0" smtClean="0"/>
                        <a:t>- </a:t>
                      </a:r>
                      <a:r>
                        <a:rPr lang="ko-KR" altLang="en-US" sz="1000" dirty="0" err="1" smtClean="0"/>
                        <a:t>정상군</a:t>
                      </a:r>
                      <a:r>
                        <a:rPr lang="en-US" altLang="ko-KR" sz="1000" dirty="0" smtClean="0"/>
                        <a:t>:</a:t>
                      </a:r>
                      <a:r>
                        <a:rPr lang="en-US" altLang="ko-KR" sz="1000" baseline="0" dirty="0" smtClean="0"/>
                        <a:t> 18</a:t>
                      </a:r>
                      <a:r>
                        <a:rPr lang="ko-KR" altLang="en-US" sz="1000" baseline="0" dirty="0" smtClean="0"/>
                        <a:t>명</a:t>
                      </a:r>
                      <a:endParaRPr lang="en-US" altLang="ko-KR" sz="1000" baseline="0" dirty="0" smtClean="0"/>
                    </a:p>
                    <a:p>
                      <a:pPr algn="l" latinLnBrk="0"/>
                      <a:r>
                        <a:rPr lang="en-US" altLang="ko-KR" sz="1000" dirty="0" smtClean="0"/>
                        <a:t>- </a:t>
                      </a:r>
                      <a:r>
                        <a:rPr lang="ko-KR" altLang="en-US" sz="1000" dirty="0" smtClean="0"/>
                        <a:t>급성 </a:t>
                      </a:r>
                      <a:r>
                        <a:rPr lang="ko-KR" altLang="en-US" sz="1000" dirty="0" err="1" smtClean="0"/>
                        <a:t>심정지군</a:t>
                      </a:r>
                      <a:r>
                        <a:rPr lang="en-US" altLang="ko-KR" sz="1000" dirty="0" smtClean="0"/>
                        <a:t>: 20</a:t>
                      </a:r>
                      <a:r>
                        <a:rPr lang="ko-KR" altLang="en-US" sz="1000" dirty="0" smtClean="0"/>
                        <a:t>명</a:t>
                      </a:r>
                      <a:endParaRPr lang="en-US" altLang="ko-KR" sz="1000" dirty="0" smtClean="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 hangingPunct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b="1" dirty="0" err="1" smtClean="0">
                          <a:latin typeface="+mn-ea"/>
                          <a:ea typeface="+mn-ea"/>
                        </a:rPr>
                        <a:t>리샘플링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000" dirty="0" err="1" smtClean="0">
                          <a:latin typeface="+mn-ea"/>
                          <a:ea typeface="+mn-ea"/>
                        </a:rPr>
                        <a:t>scipy.signal.resample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적용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(128Hz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통일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0" hangingPunct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 hangingPunct="1"/>
                      <a:r>
                        <a:rPr lang="en-US" altLang="ko-KR" sz="1000" dirty="0" smtClean="0"/>
                        <a:t>• </a:t>
                      </a:r>
                      <a:r>
                        <a:rPr lang="en-US" altLang="ko-KR" sz="1000" b="1" dirty="0" smtClean="0"/>
                        <a:t>1,860</a:t>
                      </a:r>
                      <a:r>
                        <a:rPr lang="ko-KR" altLang="en-US" sz="1000" b="1" dirty="0" smtClean="0"/>
                        <a:t>개의 시간 구간</a:t>
                      </a:r>
                      <a:r>
                        <a:rPr lang="ko-KR" altLang="en-US" sz="1000" b="0" baseline="0" dirty="0" smtClean="0"/>
                        <a:t> 확보</a:t>
                      </a:r>
                      <a:endParaRPr lang="en-US" altLang="ko-KR" sz="1000" b="0" baseline="0" dirty="0" smtClean="0"/>
                    </a:p>
                    <a:p>
                      <a:pPr algn="l" latinLnBrk="0" hangingPunct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정상군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샘플 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1080</a:t>
                      </a:r>
                    </a:p>
                    <a:p>
                      <a:pPr algn="l" latinLnBrk="0" hangingPunct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급성 심정지 샘플 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780</a:t>
                      </a:r>
                    </a:p>
                    <a:p>
                      <a:pPr algn="l" latinLnBrk="0" hangingPunct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 hangingPunct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000" b="1" dirty="0" smtClean="0">
                          <a:latin typeface="+mn-ea"/>
                          <a:ea typeface="+mn-ea"/>
                        </a:rPr>
                        <a:t>타겟 추출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000" dirty="0" err="1" smtClean="0">
                          <a:latin typeface="+mn-ea"/>
                          <a:ea typeface="+mn-ea"/>
                        </a:rPr>
                        <a:t>vf_times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딕셔너리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발작 시각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를 기준으로 역산하여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시간의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ECG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신호 추출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marL="171450" indent="-171450" algn="l" latinLnBrk="0" hangingPunct="1">
                        <a:buFontTx/>
                        <a:buChar char="-"/>
                      </a:pP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정상군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18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marL="171450" indent="-171450" algn="l" latinLnBrk="0" hangingPunct="1">
                        <a:buFontTx/>
                        <a:buChar char="-"/>
                      </a:pP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급성 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심정지군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13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0" hangingPunct="1">
                        <a:buFontTx/>
                        <a:buNone/>
                      </a:pP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(7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명은 데이터 범위 초과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데이터 포맷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err="1" smtClean="0"/>
                        <a:t>wfdb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로드 후 </a:t>
                      </a:r>
                      <a:r>
                        <a:rPr lang="en-US" altLang="ko-KR" sz="1000" dirty="0" smtClean="0"/>
                        <a:t>.</a:t>
                      </a:r>
                      <a:r>
                        <a:rPr lang="en-US" altLang="ko-KR" sz="1000" dirty="0" err="1" smtClean="0"/>
                        <a:t>npy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파일로 저장 완료</a:t>
                      </a:r>
                      <a:endParaRPr lang="en-US" altLang="ko-KR" sz="1000" dirty="0" smtClean="0"/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구조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개인 </a:t>
                      </a:r>
                      <a:r>
                        <a:rPr lang="en-US" altLang="ko-KR" sz="1000" dirty="0" smtClean="0"/>
                        <a:t>ID</a:t>
                      </a:r>
                      <a:r>
                        <a:rPr lang="ko-KR" altLang="en-US" sz="1000" dirty="0" smtClean="0"/>
                        <a:t>와 시간 구간 정보가 주파수 데이터와 </a:t>
                      </a:r>
                      <a:r>
                        <a:rPr lang="en-US" altLang="ko-KR" sz="1000" dirty="0" smtClean="0"/>
                        <a:t>1:1</a:t>
                      </a:r>
                      <a:r>
                        <a:rPr lang="ko-KR" altLang="en-US" sz="1000" dirty="0" smtClean="0"/>
                        <a:t>로 </a:t>
                      </a:r>
                      <a:r>
                        <a:rPr lang="ko-KR" altLang="en-US" sz="1000" dirty="0" err="1" smtClean="0"/>
                        <a:t>매핑되어</a:t>
                      </a:r>
                      <a:r>
                        <a:rPr lang="ko-KR" altLang="en-US" sz="1000" dirty="0" smtClean="0"/>
                        <a:t> 저장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차원 축소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b="0" baseline="0" dirty="0" smtClean="0"/>
                        <a:t> </a:t>
                      </a:r>
                      <a:r>
                        <a:rPr lang="en-US" altLang="ko-KR" sz="1000" b="1" dirty="0" smtClean="0"/>
                        <a:t>1,024 </a:t>
                      </a:r>
                      <a:r>
                        <a:rPr lang="ko-KR" altLang="en-US" sz="1000" b="1" dirty="0" smtClean="0"/>
                        <a:t>포인트</a:t>
                      </a:r>
                      <a:r>
                        <a:rPr lang="ko-KR" altLang="en-US" sz="1000" dirty="0" smtClean="0"/>
                        <a:t>로 데이터 길이 조정</a:t>
                      </a:r>
                      <a:endParaRPr lang="en-US" altLang="ko-KR" sz="1000" dirty="0" smtClean="0"/>
                    </a:p>
                    <a:p>
                      <a:pPr algn="l" latinLnBrk="0"/>
                      <a:endParaRPr lang="en-US" altLang="ko-KR" sz="1000" dirty="0" smtClean="0"/>
                    </a:p>
                    <a:p>
                      <a:pPr algn="l" latinLnBrk="0"/>
                      <a:r>
                        <a:rPr lang="en-US" altLang="ko-KR" sz="1000" dirty="0" smtClean="0"/>
                        <a:t>• </a:t>
                      </a:r>
                      <a:r>
                        <a:rPr lang="ko-KR" altLang="en-US" sz="1000" b="1" dirty="0" smtClean="0"/>
                        <a:t>입력 데이터</a:t>
                      </a:r>
                      <a:r>
                        <a:rPr lang="en-US" altLang="ko-KR" sz="1000" b="1" dirty="0" smtClean="0"/>
                        <a:t>:</a:t>
                      </a:r>
                      <a:r>
                        <a:rPr lang="ko-KR" altLang="en-US" sz="1000" dirty="0" smtClean="0"/>
                        <a:t> 길이 </a:t>
                      </a:r>
                      <a:r>
                        <a:rPr lang="en-US" altLang="ko-KR" sz="1000" b="1" dirty="0" smtClean="0"/>
                        <a:t>1,024</a:t>
                      </a:r>
                      <a:r>
                        <a:rPr lang="ko-KR" altLang="en-US" sz="1000" dirty="0" smtClean="0"/>
                        <a:t>의 </a:t>
                      </a:r>
                      <a:r>
                        <a:rPr lang="en-US" altLang="ko-KR" sz="1000" dirty="0" smtClean="0"/>
                        <a:t>1</a:t>
                      </a:r>
                      <a:r>
                        <a:rPr lang="ko-KR" altLang="en-US" sz="1000" dirty="0" smtClean="0"/>
                        <a:t>차원 벡터를 모델 입력으로 사용</a:t>
                      </a:r>
                      <a:endParaRPr lang="en-US" altLang="ko-KR" sz="1000" dirty="0" smtClean="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l" latinLnBrk="0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정확도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0.9881</a:t>
                      </a:r>
                    </a:p>
                    <a:p>
                      <a:pPr algn="l" latinLnBrk="0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민감도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0.9889</a:t>
                      </a:r>
                    </a:p>
                    <a:p>
                      <a:pPr algn="l" latinLnBrk="0"/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특이도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0.9875</a:t>
                      </a:r>
                    </a:p>
                    <a:p>
                      <a:pPr algn="l" latinLnBrk="0"/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정밀도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0.9835</a:t>
                      </a:r>
                    </a:p>
                    <a:p>
                      <a:pPr algn="l" latinLnBrk="0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F1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점수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0.9861</a:t>
                      </a:r>
                    </a:p>
                    <a:p>
                      <a:pPr algn="l" latinLnBrk="0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AUC: 0.9995</a:t>
                      </a:r>
                    </a:p>
                  </a:txBody>
                  <a:tcPr marL="59607" marR="59607" marT="29804" marB="29804" anchor="b"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정확도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 0.9929</a:t>
                      </a:r>
                    </a:p>
                    <a:p>
                      <a:pPr algn="l" latinLnBrk="0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민감도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: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0.9889</a:t>
                      </a:r>
                    </a:p>
                    <a:p>
                      <a:pPr algn="l" latinLnBrk="0"/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특이도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0.9958</a:t>
                      </a:r>
                    </a:p>
                    <a:p>
                      <a:pPr algn="l" latinLnBrk="0"/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정밀도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0.9944</a:t>
                      </a:r>
                    </a:p>
                    <a:p>
                      <a:pPr algn="l" latinLnBrk="0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F1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점수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: 0.9916</a:t>
                      </a:r>
                    </a:p>
                    <a:p>
                      <a:pPr algn="l" latinLnBrk="0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AUC: 0.9987</a:t>
                      </a:r>
                    </a:p>
                  </a:txBody>
                  <a:tcPr marL="59607" marR="59607" marT="29804" marB="29804" anchor="b"/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137163553"/>
                  </a:ext>
                </a:extLst>
              </a:tr>
            </a:tbl>
          </a:graphicData>
        </a:graphic>
      </p:graphicFrame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35181" y="447984"/>
            <a:ext cx="11520000" cy="400110"/>
          </a:xfrm>
        </p:spPr>
        <p:txBody>
          <a:bodyPr/>
          <a:lstStyle/>
          <a:p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솔루션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아키텍처 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II (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급성 심정지 사고 예방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294" y="4231451"/>
            <a:ext cx="750737" cy="203746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133" y="3895689"/>
            <a:ext cx="1485175" cy="26403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125" y="4011310"/>
            <a:ext cx="1318783" cy="47099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440" y="4586030"/>
            <a:ext cx="1387177" cy="74083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725" y="4005663"/>
            <a:ext cx="1334595" cy="47664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345" y="4586030"/>
            <a:ext cx="1474770" cy="7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19 Template_Basic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G">
      <a:majorFont>
        <a:latin typeface="Arial Narrow"/>
        <a:ea typeface="LG스마트체2.0 Regular"/>
        <a:cs typeface=""/>
      </a:majorFont>
      <a:minorFont>
        <a:latin typeface="Arial Narrow"/>
        <a:ea typeface="LG스마트체2.0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100" dirty="0">
            <a:ln>
              <a:solidFill>
                <a:schemeClr val="bg1">
                  <a:alpha val="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11709</TotalTime>
  <Words>477</Words>
  <Application>Microsoft Office PowerPoint</Application>
  <PresentationFormat>와이드스크린</PresentationFormat>
  <Paragraphs>89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LG스마트체2.0 Regular</vt:lpstr>
      <vt:lpstr>맑은 고딕</vt:lpstr>
      <vt:lpstr>Arial</vt:lpstr>
      <vt:lpstr>Arial Narrow</vt:lpstr>
      <vt:lpstr>2019 Template_Basic</vt:lpstr>
      <vt:lpstr>Diapositive think-cell</vt:lpstr>
      <vt:lpstr>솔루션 아키텍처 II (급성 심정지 사고 예방)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국가 개괄</dc:title>
  <dc:creator>asia</dc:creator>
  <cp:lastModifiedBy>asia</cp:lastModifiedBy>
  <cp:revision>278</cp:revision>
  <cp:lastPrinted>2026-01-26T06:42:43Z</cp:lastPrinted>
  <dcterms:created xsi:type="dcterms:W3CDTF">2026-01-20T12:17:53Z</dcterms:created>
  <dcterms:modified xsi:type="dcterms:W3CDTF">2026-02-01T12:54:18Z</dcterms:modified>
</cp:coreProperties>
</file>